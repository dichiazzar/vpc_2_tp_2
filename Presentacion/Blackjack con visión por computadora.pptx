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9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376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Presentarnos: somos Cristhian, Rodolfo y Julian. En 12 minutos vamos a contar cómo construimos un lector de cartas con cámara cenital que permite jugar al Blackjack en una mesa real, y sobre todo qué aprendimos al evaluar el detector fuera del dataset sintético. (~20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tiene tres partes: leer las cartas, entender los gestos del jugador y aplicar las reglas. Como en Blackjack el palo no influye en el puntaje, alcanza con reconocer 13 valores. Con el profesor acordamos que el foco del trabajo es el detector y su robustez ante rotación, oclusión, iluminación y fondo, medida con métricas; las extensiones (A contra B, interfaz de juego) se suman a eso.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cartas con cámara no es nuevo. En 2009 Zutis y Hoey monitoreaban Blackjack en casinos con cámara estéreo. En 2024 Gupta y colegas integran el reconocimiento con la estrategia básica, y Kostadinov entrena YOLO sobre datos sintéticos y reales: su dataset real es el público que usamos para evaluar. Lo que agregamos nosotros: medir qué pasa al salir del dataset sintético y llevarlo a una partida completa.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diagrama que propusimos al profesor, y los 12 bloques están implementados. A la izquierda, fuera de línea: los datos, el preprocesamiento y los dos pipelines candidatos, A y B, de los que elegimos uno. A la derecha, en línea: cada cuadro de la cámara pasa por la inferencia de cartas y su posprocesamiento, y en paralelo por MediaPipe para los gestos; las dos salidas alimentan el motor de reglas y la interfaz.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tres datasets. El sintético, de 10.100 imágenes, sirve para entrenar. Para evaluar con fotos reales usamos el dataset público de Kostadinov, 98 fotos de un solo palo, y armamos uno propio: grabamos 4 sesiones de juego con la cámara de la demo, extrajimos 130 cuadros, los pre-etiquetamos con el modelo y los corregimos a mano: 1.688 esquinas. Dos decisiones: etiquetamos la esquina y no la carta, porque es lo que se ve cuando las cartas se superponen, y separamos los splits por sesión para no inflar la métrica de test.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dos pipelines. A es un solo paso: YOLO11 con 13 clases, que detecta la esquina y su valor a la vez. B separa las tareas: un YOLO de una sola clase encuentra la esquina, la recortamos y una ResNet-18 decide el valor; la hipótesis es que separar dónde de qué hace cada tarea más fácil. Después ajustamos los modelos con fotos reales, mezclando en cada época datos sintéticos para no olvidar lo aprendido: una vez con el dataset público, que llamamos ft, y otra con el propio.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resultado central. En el dataset sintético los dos pipelines dan mAP50 0,995 y la CNN 100% de exactitud: el problema parece resuelto. Pero con fotos reales que ningún modelo vio caen a entre 0,68 y 0,86. Es la brecha conocida entre lo sintético y lo real, y es la razón por la que todo lo que sigue lo medimos con fotos reales. (~35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ajuste fino cierra la brecha, pero sobre todo en su propio dominio. A ajustado con el dataset público sube a 0,89 allí y queda igual que el base en nuestra mesa. A ajustado con apenas 79 cuadros propios llega a 0,96 en nuestra mesa: el recall pasa de 0,66 a 0,96. B ajustado con el público es la excepción parcial: mejora un poco en nuestra mesa porque el ajuste mejora a su detector, y localizar una esquina generaliza mejor que clasificar su valor. En nuestra mesa A gana: 0,96 contra 0,93, y es entre 20 y 40 ms más rápido. Por eso la aplicación usa A propio. Mensaje: conviene invertir en pocas fotos del escenario real. (~60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la robustez, que es el alcance principal acordado, aplicamos cinco perturbaciones en varios niveles: rotación, oclusión del índice, brillo, contraste y sombra; son 26 condiciones. La clave del diseño es que todos los modelos ven exactamente la misma imagen perturbada, con semilla fija, y que al rotar las cajas reales giran con la imagen. Para el fondo no reemplazamos fondos con máscaras, que no era confiable: compusimos escenas con 7 cartas reales recortadas sobre 8 fondos, siempre en las mismas posiciones, así solo cambia el fondo.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conclusiones. Oclusión: es lo más dañino; en nuestra mesa el modelo base ya pierde con el 10% tapado, A propio aguanta hasta el 20%, y con la mitad del índice tapado todos caen a un F1 de 0,16 o menos. Eso motivó, en la aplicación, contar una esquina suelta como carta y congelar la mesa cuando hay una mano encima. Iluminación: en el sintético los modelos son casi inmunes, pero en fotos reales la poca luz y el bajo contraste son críticos, sobre todo para B. Rotación: con IoU 0,5 la caída a 45° es en buena parte un efecto de la medición, porque la caja real rotada es más grande; con IoU 0,3 el sintético da 0,96 o más en todos los ángulos, y en datos reales queda una caída genuina. Fondo: con cartas separadas casi no influye; la dificultad real es la superposición. (~70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profesor nos sugirió mirar qué cartas se confunden. La sorpresa es que casi no se confunden: el modelo base se equivoca de valor en menos del 2% de las esquinas, pero no encuentra un tercio. El ajuste con fotos propias ataca justo eso: las no detectadas bajan al 4,4%, sin confusiones nuevas. Las confusiones que quedan son entre formas parecidas, como 8 y 6 o 5 y 3, y aparecen más en B, que clasifica un recorte sin contexto. Y el 8 es el valor más difícil: A propio encuentra el 58% de los 8 contra 86% o más del resto.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Detectar esquinas no alcanza para jugar. Primero, por cuadro, emparejamos las dos esquinas de cada carta: están en vértices opuestos, así que miramos la distancia relativa al tamaño de la esquina y el ángulo de la diagonal; calibramos esa ventana con las 1.688 esquinas etiquetadas. Segundo, en video, ByteTrack más una votación de 15 cuadros estabilizan la lectura: la mano correcta sube de 50,5% a 76,2% y los cambios de mano en 10 segundos bajan de 47 a 4. Tercero, el motor de reglas solo acepta un cambio si se repite 5 cuadros, 20 si es una carta que nadie pidió, y congela la mesa cuando hay una mano encima, porque la mano tapa cartas y genera lecturas falsas. (~60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los gestos usamos MediaPipe, que da 21 puntos por mano, y clasificamos la pose con reglas propias. Pedir es apuntar con el índice; plantarse es mostrar la palma quieta o pasarla por encima. La regla mide cocientes de distancias, así que no depende del giro ni del tamaño de la mano. Eso importa: el reconocedor de gestos que trae MediaPipe funciona con la mano derecha, pero con la mano girada 90 o 180 grados, que es lo normal con la cámara arriba de la mesa, no reconoce nada. Nuestra regla mantiene el recall en cualquier orientación.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prueba final fue jugar de verdad. Grabamos cuatro partidas completas con la cámara de la demo: dos las ganó el jugador y dos la Casa, e incluyen casos difíciles como un As que pasa de valer 11 a valer 1 y una carta girada. Reproducidas cuadro a cuadro por todo el sistema, las cuatro dan el mismo resultado, las mismas cartas y los mismos gestos que vimos en vivo, sin irregularidades. Todo corre a entre 7 y 10 cuadros por segundo en una notebook, sin GPU. Además las usamos como prueba de regresión: si rompemos a propósito la regla del As, la prueba lo detecta.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de 83 s, sin audio; se inicia con un clic. Guion para narrar: (0:00) Título. (0:05) Cómo lee la mesa: en verde cada esquina detectada con su valor, en amarillo la diagonal que une las dos esquinas de una carta, en azul la carta armada; arriba de la línea roja la Casa, abajo el Jugador. (0:12) Primera partida: reparto, 6 + 8 contra una K. El jugador apunta con el índice y pide carta; mientras el crupier reparte, los gestos se ignoran. Recibe un 6: 20. Muestra la palma abierta y se planta. La Casa da vuelta su carta oculta y pide hasta llegar a 17: gana el Jugador 20 a 17. (0:57) Segunda partida: A + 5 contra una K. Pide y le llega un 5 girado: llega a 21 y se planta solo. La Casa llega a 20: gana el Jugador 21 a 20. (1:17) Resultados: 4 de 4 partidas reales correctas, a 7–10 cuadros por segundo en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seis conclusiones. Uno: el 0,995 sintético no dice nada del rendimiento real. Dos: pocas fotos del escenario real valen más que muchos datos genéricos. Tres: en nuestra mesa, el detector de un paso le gana al de dos etapas, en exactitud y en velocidad. Cuatro: en datos reales el problema es no encontrar la esquina, sobre todo con oclusión; el fondo casi no importa. Cinco: el posprocesamiento es lo que convierte detecciones en partidas correctas. Seis: para gestos con cámara cenital hacen falta reglas invariantes a la rotación. Como próximos pasos: reconocer el palo, que permitiría detectar cartas duplicadas, y ampliar el dataset propio con otras mesas, luces y la cámara en horizontal. (~60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Todo el trabajo es reproducible: el código, los modelos, los datasets y las partidas reales están en el repositorio. Quedamos abiertos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45541"/>
            <a:ext cx="10566400" cy="887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337992"/>
            <a:ext cx="10566400" cy="37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45541"/>
            <a:ext cx="10566400" cy="887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337992"/>
            <a:ext cx="10566400" cy="37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00" dirty="0">
                <a:solidFill>
                  <a:srgbClr val="D9A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POR COMPUTADORA II · CEIA-FIUBA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24663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</a:t>
            </a:r>
            <a:endParaRPr lang="en-US" sz="5200" dirty="0"/>
          </a:p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computadora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87470"/>
            <a:ext cx="85026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9D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cartas y control por gestos: de datos sintéticos a una mesa real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740400"/>
            <a:ext cx="574633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Cristhian Pettico · Rodolfo Di Chiazza · Julian Blanco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93979" y="5778500"/>
            <a:ext cx="138522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dirty="0">
                <a:solidFill>
                  <a:srgbClr val="C9D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Octubre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3635"/>
            <a:ext cx="10883392" cy="911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9"/>
              </a:lnSpc>
              <a:buNone/>
            </a:pPr>
            <a:r>
              <a:rPr lang="en-US" sz="319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Jugar al Blackjack en una mesa real, con una cámara mirando desde arriba</a:t>
            </a:r>
            <a:endParaRPr lang="en-US" sz="3190" dirty="0"/>
          </a:p>
        </p:txBody>
      </p:sp>
      <p:sp>
        <p:nvSpPr>
          <p:cNvPr id="4" name="Shape 2"/>
          <p:cNvSpPr/>
          <p:nvPr/>
        </p:nvSpPr>
        <p:spPr>
          <a:xfrm>
            <a:off x="815975" y="2388950"/>
            <a:ext cx="3380264" cy="2158603"/>
          </a:xfrm>
          <a:prstGeom prst="roundRect">
            <a:avLst>
              <a:gd name="adj" fmla="val 4560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pic>
        <p:nvPicPr>
          <p:cNvPr id="5" name="Image 0" descr="Search"/>
          <p:cNvPicPr>
            <a:picLocks noChangeAspect="1"/>
          </p:cNvPicPr>
          <p:nvPr/>
        </p:nvPicPr>
        <p:blipFill>
          <a:blip r:embed="rId3"/>
          <a:srcRect t="-318" b="-318"/>
          <a:stretch/>
        </p:blipFill>
        <p:spPr>
          <a:xfrm>
            <a:off x="1071880" y="2644855"/>
            <a:ext cx="355600" cy="3514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3097927"/>
            <a:ext cx="2954507" cy="326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975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Cartas</a:t>
            </a:r>
            <a:endParaRPr lang="en-US" sz="1975" dirty="0"/>
          </a:p>
        </p:txBody>
      </p:sp>
      <p:sp>
        <p:nvSpPr>
          <p:cNvPr id="7" name="Text 4"/>
          <p:cNvSpPr/>
          <p:nvPr/>
        </p:nvSpPr>
        <p:spPr>
          <a:xfrm>
            <a:off x="1071880" y="3500834"/>
            <a:ext cx="2954507" cy="81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7"/>
              </a:lnSpc>
              <a:buNone/>
            </a:pPr>
            <a:r>
              <a:rPr lang="en-US" sz="1491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cámara lee el índice de la esquina y reparte las cartas entre la Casa y el Jugador.</a:t>
            </a:r>
            <a:endParaRPr lang="en-US" sz="1491" dirty="0"/>
          </a:p>
        </p:txBody>
      </p:sp>
      <p:sp>
        <p:nvSpPr>
          <p:cNvPr id="8" name="Shape 5"/>
          <p:cNvSpPr/>
          <p:nvPr/>
        </p:nvSpPr>
        <p:spPr>
          <a:xfrm>
            <a:off x="4405789" y="2388950"/>
            <a:ext cx="3380343" cy="2158603"/>
          </a:xfrm>
          <a:prstGeom prst="roundRect">
            <a:avLst>
              <a:gd name="adj" fmla="val 4560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pic>
        <p:nvPicPr>
          <p:cNvPr id="9" name="Image 1" descr="ThumbsUp"/>
          <p:cNvPicPr>
            <a:picLocks noChangeAspect="1"/>
          </p:cNvPicPr>
          <p:nvPr/>
        </p:nvPicPr>
        <p:blipFill>
          <a:blip r:embed="rId4"/>
          <a:srcRect t="-318" b="-318"/>
          <a:stretch/>
        </p:blipFill>
        <p:spPr>
          <a:xfrm>
            <a:off x="4661694" y="2644855"/>
            <a:ext cx="355600" cy="3514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694" y="3097927"/>
            <a:ext cx="2954589" cy="326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975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Gestos</a:t>
            </a:r>
            <a:endParaRPr lang="en-US" sz="1975" dirty="0"/>
          </a:p>
        </p:txBody>
      </p:sp>
      <p:sp>
        <p:nvSpPr>
          <p:cNvPr id="11" name="Text 7"/>
          <p:cNvSpPr/>
          <p:nvPr/>
        </p:nvSpPr>
        <p:spPr>
          <a:xfrm>
            <a:off x="4661694" y="3500834"/>
            <a:ext cx="2954589" cy="81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7"/>
              </a:lnSpc>
              <a:buNone/>
            </a:pPr>
            <a:r>
              <a:rPr lang="en-US" sz="1491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jugador pide carta apuntando con el índice y se planta mostrando la palma.</a:t>
            </a:r>
            <a:endParaRPr lang="en-US" sz="1491" dirty="0"/>
          </a:p>
        </p:txBody>
      </p:sp>
      <p:sp>
        <p:nvSpPr>
          <p:cNvPr id="12" name="Shape 8"/>
          <p:cNvSpPr/>
          <p:nvPr/>
        </p:nvSpPr>
        <p:spPr>
          <a:xfrm>
            <a:off x="7995682" y="2388950"/>
            <a:ext cx="3380343" cy="2158603"/>
          </a:xfrm>
          <a:prstGeom prst="roundRect">
            <a:avLst>
              <a:gd name="adj" fmla="val 4560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pic>
        <p:nvPicPr>
          <p:cNvPr id="13" name="Image 2" descr="Settings"/>
          <p:cNvPicPr>
            <a:picLocks noChangeAspect="1"/>
          </p:cNvPicPr>
          <p:nvPr/>
        </p:nvPicPr>
        <p:blipFill>
          <a:blip r:embed="rId5"/>
          <a:srcRect t="-318" b="-318"/>
          <a:stretch/>
        </p:blipFill>
        <p:spPr>
          <a:xfrm>
            <a:off x="8251587" y="2644855"/>
            <a:ext cx="355600" cy="3514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587" y="3097927"/>
            <a:ext cx="2954589" cy="326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975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</a:t>
            </a:r>
            <a:endParaRPr lang="en-US" sz="1975" dirty="0"/>
          </a:p>
        </p:txBody>
      </p:sp>
      <p:sp>
        <p:nvSpPr>
          <p:cNvPr id="15" name="Text 10"/>
          <p:cNvSpPr/>
          <p:nvPr/>
        </p:nvSpPr>
        <p:spPr>
          <a:xfrm>
            <a:off x="8251587" y="3500834"/>
            <a:ext cx="2954589" cy="81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7"/>
              </a:lnSpc>
              <a:buNone/>
            </a:pPr>
            <a:r>
              <a:rPr lang="en-US" sz="1491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motor de reglas guía al crupier, decide quién gana y lleva el saldo.</a:t>
            </a:r>
            <a:endParaRPr lang="en-US" sz="1491" dirty="0"/>
          </a:p>
        </p:txBody>
      </p:sp>
      <p:sp>
        <p:nvSpPr>
          <p:cNvPr id="16" name="Text 11"/>
          <p:cNvSpPr/>
          <p:nvPr/>
        </p:nvSpPr>
        <p:spPr>
          <a:xfrm>
            <a:off x="812800" y="4906328"/>
            <a:ext cx="10566400" cy="935673"/>
          </a:xfrm>
          <a:prstGeom prst="roundRect">
            <a:avLst>
              <a:gd name="adj" fmla="val 10858"/>
            </a:avLst>
          </a:prstGeom>
          <a:solidFill>
            <a:srgbClr val="10261F"/>
          </a:solidFill>
          <a:ln/>
        </p:spPr>
        <p:txBody>
          <a:bodyPr wrap="square" lIns="224242" tIns="158679" rIns="0" bIns="158679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A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acordado:</a:t>
            </a:r>
            <a:r>
              <a:rPr lang="en-US" sz="150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entrenar el detector y evaluar su robustez ante rotación, oclusión, iluminación y fondo, con métricas.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ANTECEDENTES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4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cartas con cámara es un problema conocido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4530"/>
            <a:ext cx="10566400" cy="0"/>
          </a:xfrm>
          <a:prstGeom prst="line">
            <a:avLst/>
          </a:prstGeom>
          <a:noFill/>
          <a:ln w="12700">
            <a:solidFill>
              <a:srgbClr val="1026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61541"/>
            <a:ext cx="1066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33600" y="2161541"/>
            <a:ext cx="95229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Zutis y Hoey: monitoreo de Blackjack en casinos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33600" y="2471420"/>
            <a:ext cx="952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estéreo cenital y descriptores clásicos para detectar conteo de cartas.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926716"/>
            <a:ext cx="10566400" cy="0"/>
          </a:xfrm>
          <a:prstGeom prst="line">
            <a:avLst/>
          </a:prstGeom>
          <a:noFill/>
          <a:ln w="6350">
            <a:solidFill>
              <a:srgbClr val="C9C1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3131820"/>
            <a:ext cx="1066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33600" y="3131820"/>
            <a:ext cx="95229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Gupta et al.: recomendador de estrategia con visión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133600" y="3441700"/>
            <a:ext cx="952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 las cartas y sugiere la jugada de la estrategia básica.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896995"/>
            <a:ext cx="10566400" cy="0"/>
          </a:xfrm>
          <a:prstGeom prst="line">
            <a:avLst/>
          </a:prstGeom>
          <a:noFill/>
          <a:ln w="6350">
            <a:solidFill>
              <a:srgbClr val="C9C1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" y="4866005"/>
            <a:ext cx="10566400" cy="0"/>
          </a:xfrm>
          <a:prstGeom prst="line">
            <a:avLst/>
          </a:prstGeom>
          <a:noFill/>
          <a:ln w="6350">
            <a:solidFill>
              <a:srgbClr val="C9C1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4102100"/>
            <a:ext cx="1066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33600" y="4102100"/>
            <a:ext cx="95229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Kostadinov: detección de cartas con YOLO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33600" y="4411980"/>
            <a:ext cx="952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sintético y real; el real (98 fotos) es el dataset público que usamos.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223"/>
            <a:ext cx="10883392" cy="918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 bloques: fuera de línea elegimos el modelo, en línea jugamos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46088"/>
            <a:ext cx="10560050" cy="2655173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6350">
            <a:solidFill>
              <a:srgbClr val="DDD6C4"/>
            </a:solidFill>
            <a:prstDash val="solid"/>
          </a:ln>
        </p:spPr>
      </p:sp>
      <p:pic>
        <p:nvPicPr>
          <p:cNvPr id="5" name="Image 0" descr="Diagrama de arquitectura: dataset, preprocesamiento, modelos A y B, elección del modelo, cámara, inferencia y posprocesamiento de cartas, MediaPipe y confirmación de gestos, motor de Blackjack e interfaz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1016000" y="2500392"/>
            <a:ext cx="10160000" cy="2349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309236"/>
            <a:ext cx="533704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línea (01–05):</a:t>
            </a:r>
            <a:r>
              <a:rPr lang="en-US" sz="15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datos, preprocesamiento y dos modelos candidatos, A y B.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97600" y="5309236"/>
            <a:ext cx="533704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línea (06–12):</a:t>
            </a:r>
            <a:r>
              <a:rPr lang="en-US" sz="15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cuadro pasa por cartas y gestos, que alimentan las reglas y la interfaz.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39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Entrenamos con datos sintéticos y evaluamos con fotos reales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54581"/>
          <a:ext cx="10556240" cy="2032000"/>
        </p:xfrm>
        <a:graphic>
          <a:graphicData uri="http://schemas.openxmlformats.org/drawingml/2006/table">
            <a:tbl>
              <a:tblPr/>
              <a:tblGrid>
                <a:gridCol w="2322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Tamaño (train / valid / test)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Sintético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Cartas generadas y pegadas sobre fondos (Roboflow)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10.100 imágenes: 7.070 / 2.020 / 1.010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Entrenar A y 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público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 fotos reales (Kostadinov); un solo palo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 / 18 / 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y ajuste ft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propio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sesiones grabadas con la cámara de la demo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 cuadros, 1.688 esquinas: 79 / 21 / 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y ajuste propio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1850" y="4691382"/>
            <a:ext cx="0" cy="645160"/>
          </a:xfrm>
          <a:prstGeom prst="line">
            <a:avLst/>
          </a:prstGeom>
          <a:noFill/>
          <a:ln w="38100">
            <a:solidFill>
              <a:srgbClr val="8A64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0760" y="4742182"/>
            <a:ext cx="514344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Etiquetamos el índice de la esquina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0760" y="5036821"/>
            <a:ext cx="5143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único legible cuando las cartas se superponen.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6650" y="4691382"/>
            <a:ext cx="0" cy="645160"/>
          </a:xfrm>
          <a:prstGeom prst="line">
            <a:avLst/>
          </a:prstGeom>
          <a:noFill/>
          <a:ln w="38100">
            <a:solidFill>
              <a:srgbClr val="8A64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85560" y="4742182"/>
            <a:ext cx="514344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Separamos por sesión, no al azar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85560" y="5036821"/>
            <a:ext cx="5143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Cuadros casi iguales nunca quedan en train y en test.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39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Comparamos dos formas de leer el valor de una esquina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47596"/>
            <a:ext cx="5175250" cy="2132330"/>
          </a:xfrm>
          <a:prstGeom prst="roundRect">
            <a:avLst>
              <a:gd name="adj" fmla="val 4616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603500"/>
            <a:ext cx="480334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56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un solo paso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880" y="3065782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YOLO11s con 13 clases: encuentra cada esquina y clasifica su valor a la vez.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1880" y="3726182"/>
            <a:ext cx="48033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Elegimos YOLO11 por su balance entre precisión y latencia en CPU, y porque integra seguimiento.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2347596"/>
            <a:ext cx="5175250" cy="2132330"/>
          </a:xfrm>
          <a:prstGeom prst="roundRect">
            <a:avLst>
              <a:gd name="adj" fmla="val 4616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6680" y="2603500"/>
            <a:ext cx="480334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45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dos etapas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56680" y="3065782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YOLO11s con 1 clase localiza la esquina, la recortamos y una ResNet-18 clasifica el valor.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56680" y="3726182"/>
            <a:ext cx="4803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Hipótesis: separar “dónde” de “qué” facilita cada tarea.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7879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fino con fotos reales: en cada época, 400 imágenes sintéticas más el train real repetido ×5. Por separado con el dataset público (</a:t>
            </a:r>
            <a:r>
              <a:rPr lang="en-US" sz="1500" i="1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</a:t>
            </a:r>
            <a:r>
              <a:rPr lang="en-US" sz="15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y con el propio (</a:t>
            </a:r>
            <a:r>
              <a:rPr lang="en-US" sz="1500" i="1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propio</a:t>
            </a:r>
            <a:r>
              <a:rPr lang="en-US" sz="15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9A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CENTRAL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517139"/>
            <a:ext cx="449986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0,995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380739"/>
            <a:ext cx="524256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C9D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 en datos sintéticos (validación, A y B)</a:t>
            </a:r>
            <a:endParaRPr lang="en-US" sz="1700" dirty="0"/>
          </a:p>
        </p:txBody>
      </p:sp>
      <p:pic>
        <p:nvPicPr>
          <p:cNvPr id="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88000" y="2846071"/>
            <a:ext cx="1016000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10400" y="2517139"/>
            <a:ext cx="449986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D9A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0,68–0,86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010400" y="3380739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C9D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 en fotos reales, sin ajuste fino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2800" y="5156200"/>
            <a:ext cx="98107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100% en el test sintético no anticipa el rendimiento real: hay que evaluar con fotos del escenario de uso.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FINO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39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ajuste fino mejora sobre todo el dominio con el que se hace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54581"/>
          <a:ext cx="6390640" cy="2871470"/>
        </p:xfrm>
        <a:graphic>
          <a:graphicData uri="http://schemas.openxmlformats.org/drawingml/2006/table">
            <a:tbl>
              <a:tblPr/>
              <a:tblGrid>
                <a:gridCol w="2556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por esquina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público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propio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ft (público)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propio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base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ft (público)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propio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327650"/>
            <a:ext cx="7680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≥ 0,5 y valor correcto, confianza ≥ 0,5. Latencia en CPU: A 100–114 ms, B 136–143 ms.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569200" y="2344421"/>
            <a:ext cx="3810000" cy="2316480"/>
          </a:xfrm>
          <a:prstGeom prst="roundRect">
            <a:avLst>
              <a:gd name="adj" fmla="val 4386"/>
            </a:avLst>
          </a:prstGeom>
          <a:solidFill>
            <a:srgbClr val="10261F"/>
          </a:solidFill>
          <a:ln/>
        </p:spPr>
      </p:sp>
      <p:sp>
        <p:nvSpPr>
          <p:cNvPr id="7" name="Text 4"/>
          <p:cNvSpPr/>
          <p:nvPr/>
        </p:nvSpPr>
        <p:spPr>
          <a:xfrm>
            <a:off x="7874000" y="2649221"/>
            <a:ext cx="329641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79 cuadros propios, el recall de A pasa 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74000" y="3274061"/>
            <a:ext cx="329641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9A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0,66 → 0,96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874000" y="3858261"/>
            <a:ext cx="329641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 otro mazo no mejoran a A, y a B solo un poco (por su detector).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 · PROTOCOLO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42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Perturbamos la misma imagen igual para todos los modelos</a:t>
            </a:r>
            <a:endParaRPr lang="en-US" sz="3200" dirty="0"/>
          </a:p>
        </p:txBody>
      </p:sp>
      <p:pic>
        <p:nvPicPr>
          <p:cNvPr id="4" name="Image 0" descr="Un cuadro del test propio con ocho perturbaciones: original, rotación 45°, oclusión 40%, brillo ×0,2, contraste ×0,25, sombra 0,2, sombra 0,6 y brillo ×2,0; las esquinas reales marcadas en ver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344421"/>
            <a:ext cx="6604000" cy="3302000"/>
          </a:xfrm>
          <a:prstGeom prst="roundRect">
            <a:avLst>
              <a:gd name="adj" fmla="val 2308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721600" y="2344421"/>
            <a:ext cx="37673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</a:t>
            </a:r>
            <a:r>
              <a:rPr lang="en-US" sz="14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15° a 180°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21600" y="2711450"/>
            <a:ext cx="37673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Oclusión</a:t>
            </a:r>
            <a:r>
              <a:rPr lang="en-US" sz="14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índice, 10% a 60%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21600" y="3078479"/>
            <a:ext cx="37673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Brillo</a:t>
            </a:r>
            <a:r>
              <a:rPr lang="en-US" sz="14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×0,2 a ×2,5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21600" y="3445514"/>
            <a:ext cx="37673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</a:t>
            </a:r>
            <a:r>
              <a:rPr lang="en-US" sz="14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×0,6 a ×0,15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21600" y="3812542"/>
            <a:ext cx="37673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Sombra</a:t>
            </a:r>
            <a:r>
              <a:rPr lang="en-US" sz="14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luz mínima 60% a 10%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21600" y="4179571"/>
            <a:ext cx="37673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Fondo:</a:t>
            </a:r>
            <a:r>
              <a:rPr lang="en-US" sz="14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cartas reales sobre 8 fondos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21600" y="4546600"/>
            <a:ext cx="37673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condiciones · test propio (412 esquinas) y 100 imágenes sintéticas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 · RESULTADOS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42"/>
            <a:ext cx="113792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oclusión es lo más dañino; el fondo casi no influye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49754"/>
            <a:ext cx="10560050" cy="2302510"/>
          </a:xfrm>
          <a:prstGeom prst="roundRect">
            <a:avLst>
              <a:gd name="adj" fmla="val 4275"/>
            </a:avLst>
          </a:prstGeom>
          <a:solidFill>
            <a:srgbClr val="FFFFFF"/>
          </a:solidFill>
          <a:ln w="6350">
            <a:solidFill>
              <a:srgbClr val="DDD6C4"/>
            </a:solidFill>
            <a:prstDash val="solid"/>
          </a:ln>
        </p:spPr>
      </p:sp>
      <p:pic>
        <p:nvPicPr>
          <p:cNvPr id="5" name="Image 0" descr="F1 en el test propio según la severidad de oclusión, brillo, contraste y rotación, para A, B, A propio y B propio"/>
          <p:cNvPicPr>
            <a:picLocks noChangeAspect="1"/>
          </p:cNvPicPr>
          <p:nvPr/>
        </p:nvPicPr>
        <p:blipFill>
          <a:blip r:embed="rId3"/>
          <a:srcRect l="-12638" r="-12638"/>
          <a:stretch/>
        </p:blipFill>
        <p:spPr>
          <a:xfrm>
            <a:off x="1016000" y="1953264"/>
            <a:ext cx="10160000" cy="2095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409442"/>
            <a:ext cx="26031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Oclusión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4688842"/>
            <a:ext cx="2603119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Tapando el 20%, A propio mantiene F1 0,89; con el 50%, todos caen a 0,16 o menos.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92500" y="4409442"/>
            <a:ext cx="26031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Iluminación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92500" y="4688842"/>
            <a:ext cx="26031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 en datos reales: con brillo ×0,2, B da F1 0 y A propio 0,58.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4409442"/>
            <a:ext cx="26031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72200" y="4688842"/>
            <a:ext cx="2603119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IoU ≥ 0,3, A propio baja de 0,96 a 0,84 a 45°; parte de la caída es la métrica.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51900" y="4409442"/>
            <a:ext cx="26031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851900" y="4688842"/>
            <a:ext cx="2603119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obtiene F1 ≥ 0,99 en los 8 fondos; solo el blanco afecta a B base (0,90).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10 · trazo lleno: modelos base; cortado: </a:t>
            </a:r>
            <a:r>
              <a:rPr lang="en-US" sz="1200" i="1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CONFUSIONES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3874"/>
            <a:ext cx="10883392" cy="913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9"/>
              </a:lnSpc>
              <a:buNone/>
            </a:pPr>
            <a:r>
              <a:rPr lang="en-US" sz="319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dominante no es confundir valores: es no encontrar la esquina</a:t>
            </a:r>
            <a:endParaRPr lang="en-US" sz="319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46483"/>
          <a:ext cx="10556240" cy="2302511"/>
        </p:xfrm>
        <a:graphic>
          <a:graphicData uri="http://schemas.openxmlformats.org/drawingml/2006/table">
            <a:tbl>
              <a:tblPr/>
              <a:tblGrid>
                <a:gridCol w="2322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8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7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2147">
                <a:tc>
                  <a:txBody>
                    <a:bodyPr/>
                    <a:lstStyle/>
                    <a:p>
                      <a:pPr marL="0" indent="0">
                        <a:lnSpc>
                          <a:spcPts val="2087"/>
                        </a:lnSpc>
                        <a:buNone/>
                      </a:pPr>
                      <a:r>
                        <a:rPr lang="en-US" sz="1491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 esquinas reales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Bien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equivocado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detectada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Confusión más frecuente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Peor valor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pPr marL="0" indent="0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base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32,0%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→ 6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(32%)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pPr marL="0" indent="0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base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→ 4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(27%)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pPr marL="0" indent="0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propio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95,6%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(58%)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pPr marL="0" indent="0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propio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93,0%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→ 3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087"/>
                        </a:lnSpc>
                        <a:buNone/>
                      </a:pPr>
                      <a:r>
                        <a:rPr lang="en-US" sz="149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(65%)</a:t>
                      </a:r>
                      <a:endParaRPr lang="en-US" sz="149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258" marR="66258" marT="66258" marB="66258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1850" y="4953794"/>
            <a:ext cx="0" cy="888206"/>
          </a:xfrm>
          <a:prstGeom prst="line">
            <a:avLst/>
          </a:prstGeom>
          <a:noFill/>
          <a:ln w="38100">
            <a:solidFill>
              <a:srgbClr val="8A64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0760" y="5004594"/>
            <a:ext cx="5143449" cy="267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ajuste resuelve justo eso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0760" y="5297332"/>
            <a:ext cx="5143449" cy="519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esquinas no detectadas bajan de 32% a 4,4%, sin confusiones nuevas.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6650" y="4953794"/>
            <a:ext cx="0" cy="888206"/>
          </a:xfrm>
          <a:prstGeom prst="line">
            <a:avLst/>
          </a:prstGeom>
          <a:noFill/>
          <a:ln w="38100">
            <a:solidFill>
              <a:srgbClr val="8A64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85560" y="5004594"/>
            <a:ext cx="514344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8 es el más difícil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85560" y="5299236"/>
            <a:ext cx="5143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400" i="1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propio</a:t>
            </a: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detecta el 58% de los 8 y el 86% o más del resto.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11 · Peor valor: el valor con menor proporción de esquinas detectadas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COMPLETO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esquinas detectadas a una partida estable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1354"/>
            <a:ext cx="3041650" cy="2127250"/>
          </a:xfrm>
          <a:prstGeom prst="roundRect">
            <a:avLst>
              <a:gd name="adj" fmla="val 4627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181864"/>
            <a:ext cx="26580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POR CUADRO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6480" y="2496821"/>
            <a:ext cx="265805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Emparejar esquinas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46480" y="2887979"/>
            <a:ext cx="2658059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esquinas son una carta si su distancia y el ángulo de la diagonal encajan. Descartamos duplicados.</a:t>
            </a:r>
            <a:endParaRPr lang="en-US" sz="135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13200" y="2913379"/>
            <a:ext cx="4064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5175" y="1951354"/>
            <a:ext cx="3041650" cy="2127250"/>
          </a:xfrm>
          <a:prstGeom prst="roundRect">
            <a:avLst>
              <a:gd name="adj" fmla="val 4627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5680" y="2181864"/>
            <a:ext cx="26580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EN VIDEO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05680" y="2496821"/>
            <a:ext cx="265805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805680" y="2887979"/>
            <a:ext cx="2658059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ByteTrack, votación en 15 cuadros y memoria de esquinas: mano correcta de 50,5% a 76,2%.</a:t>
            </a:r>
            <a:endParaRPr lang="en-US" sz="135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0" y="2913379"/>
            <a:ext cx="406400" cy="20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334375" y="1951354"/>
            <a:ext cx="3041650" cy="2127250"/>
          </a:xfrm>
          <a:prstGeom prst="roundRect">
            <a:avLst>
              <a:gd name="adj" fmla="val 4627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64880" y="2181864"/>
            <a:ext cx="26580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PARTIDA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564880" y="2496821"/>
            <a:ext cx="265805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reglas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8564880" y="2887979"/>
            <a:ext cx="2658059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un cambio tras 5 cuadros (20 si nadie pidió esa carta) y nunca con una mano encima.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812800" y="4437379"/>
            <a:ext cx="11379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Etapas: esperando → reparto → jugador → casa → fin. La Casa pide hasta llegar a 17; el As vale 11 si no se pasa de 21.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42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propias sobre MediaPipe, invariantes a la rotación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47596"/>
            <a:ext cx="3930650" cy="969010"/>
          </a:xfrm>
          <a:prstGeom prst="roundRect">
            <a:avLst>
              <a:gd name="adj" fmla="val 10157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552700"/>
            <a:ext cx="36260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carta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1080" y="2862579"/>
            <a:ext cx="3626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índice extendido, sostenido 0,5 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75" y="3475354"/>
            <a:ext cx="3930650" cy="969010"/>
          </a:xfrm>
          <a:prstGeom prst="roundRect">
            <a:avLst>
              <a:gd name="adj" fmla="val 10157"/>
            </a:avLst>
          </a:prstGeom>
          <a:solidFill>
            <a:srgbClr val="FFFDF8"/>
          </a:solidFill>
          <a:ln w="6350">
            <a:solidFill>
              <a:srgbClr val="DDD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1080" y="3680464"/>
            <a:ext cx="36260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Plantarse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1080" y="3990342"/>
            <a:ext cx="3626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Palma abierta 1,2 s, o pasarla por encima.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599942"/>
            <a:ext cx="40551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dedo está extendido si muñeca–punta / muñeca–nudillo &gt; 1,45: un cociente, no importa el giro.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15560" y="2354581"/>
          <a:ext cx="6263640" cy="1917700"/>
        </p:xfrm>
        <a:graphic>
          <a:graphicData uri="http://schemas.openxmlformats.org/drawingml/2006/table">
            <a:tbl>
              <a:tblPr/>
              <a:tblGrid>
                <a:gridCol w="250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en HaGRID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Reglas propias · apuntar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Reglas propias · palma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MediaPipe · apuntar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MediaPipe · palma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105400" y="4373879"/>
            <a:ext cx="64620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reconocedor preentrenado de MediaPipe no ve nada con la mano girada, algo habitual con cámara cenital.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13 · 40 fotos por clase de HaGRID, cada una original y rotada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PARTIDAS REALES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partidas reales, sin errores</a:t>
            </a:r>
            <a:endParaRPr lang="en-US" sz="3200" dirty="0"/>
          </a:p>
        </p:txBody>
      </p:sp>
      <p:pic>
        <p:nvPicPr>
          <p:cNvPr id="4" name="Image 0" descr="Dos cuadros de una partida real: a la izquierda el jugador apunta con el índice para pedir carta; a la derecha llega a 21 con un 5 girado y gana 21 a 20"/>
          <p:cNvPicPr>
            <a:picLocks noChangeAspect="1"/>
          </p:cNvPicPr>
          <p:nvPr/>
        </p:nvPicPr>
        <p:blipFill>
          <a:blip r:embed="rId3"/>
          <a:srcRect t="-40" b="-40"/>
          <a:stretch/>
        </p:blipFill>
        <p:spPr>
          <a:xfrm>
            <a:off x="812800" y="1846579"/>
            <a:ext cx="7493000" cy="2724150"/>
          </a:xfrm>
          <a:prstGeom prst="roundRect">
            <a:avLst>
              <a:gd name="adj" fmla="val 2797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610600" y="2178689"/>
            <a:ext cx="285165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610600" y="2661289"/>
            <a:ext cx="285165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partidas con el resultado, las cartas y los gestos correctos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10600" y="3310254"/>
            <a:ext cx="285165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610600" y="3792854"/>
            <a:ext cx="285165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cuadros por segundo en CPU, todo el sistema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2800" y="4824729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ganadas por el jugador y dos por la Casa, con un As que pasa de 11 a 1 y una carta girada. Las grabamos crudas y quedaron como prueba de regresión.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3102" y="246724"/>
            <a:ext cx="370579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9A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DOS PARTIDAS REALES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6483006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15 · clic en el video para iniciarlo</a:t>
            </a:r>
            <a:endParaRPr lang="en-US" sz="1200" dirty="0"/>
          </a:p>
        </p:txBody>
      </p:sp>
      <p:pic>
        <p:nvPicPr>
          <p:cNvPr id="5" name="demo">
            <a:hlinkClick r:id="" action="ppaction://media"/>
            <a:extLst>
              <a:ext uri="{FF2B5EF4-FFF2-40B4-BE49-F238E27FC236}">
                <a16:creationId xmlns:a16="http://schemas.microsoft.com/office/drawing/2014/main" id="{10415364-C1A1-B185-5980-8A82A3E552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19200" y="503264"/>
            <a:ext cx="9753600" cy="548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1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aprendimos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97385"/>
            <a:ext cx="3556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0000" y="1897385"/>
            <a:ext cx="49707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rendimiento sintético (0,995) no anticipa el real (0,68–0,86).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096000" y="1897385"/>
            <a:ext cx="3556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53200" y="1897385"/>
            <a:ext cx="49707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Pocas fotos del escenario real valen más que datos genéricos: recall de 0,66 a 0,96.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2800" y="2413000"/>
            <a:ext cx="3556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70000" y="2413000"/>
            <a:ext cx="49707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nuestra mesa, el detector de un paso (A) supera al de dos etapas (B) en exactitud y latencia.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6000" y="2413000"/>
            <a:ext cx="3556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53200" y="2413000"/>
            <a:ext cx="49707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real es no encontrar la esquina; la oclusión es lo más dañino y el fondo casi no influye.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2800" y="2928627"/>
            <a:ext cx="3556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0000" y="2928627"/>
            <a:ext cx="49707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posprocesamiento decide en la partida: emparejar, </a:t>
            </a:r>
          </a:p>
          <a:p>
            <a:pPr marL="0" indent="0" algn="l">
              <a:lnSpc>
                <a:spcPts val="2030"/>
              </a:lnSpc>
              <a:buNone/>
            </a:pPr>
            <a:r>
              <a:rPr lang="en-US" sz="1450" dirty="0" err="1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</a:t>
            </a:r>
            <a:r>
              <a:rPr lang="en-US" sz="145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congelar la mesa con una mano encima.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6000" y="2928627"/>
            <a:ext cx="3556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A6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53200" y="2928627"/>
            <a:ext cx="49707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dirty="0">
                <a:solidFill>
                  <a:srgbClr val="1F2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cámara cenital, reglas invariantes a la rotación superan al reconocedor de gestos preentrenado.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12800" y="37490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pasos:</a:t>
            </a:r>
            <a:r>
              <a:rPr lang="en-US" sz="1400" dirty="0">
                <a:solidFill>
                  <a:srgbClr val="455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reconocer el palo, entrenar con la cámara en horizontal y medir con otras mesas y luces.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 con visión por computadora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00" dirty="0">
                <a:solidFill>
                  <a:srgbClr val="D9A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POR COMPUTADORA II · CEIA-FIUBA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60327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 err="1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</a:t>
            </a:r>
            <a:r>
              <a:rPr lang="en-US" sz="6000" b="1" i="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gracias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563627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C9D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4356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Código, modelos, datos y partidas reales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5760727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github.com/dichiazzar/VpC_2_TP_2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jack con visión por computadora">
  <a:themeElements>
    <a:clrScheme name="Blackjack con visión por computadora">
      <a:dk1>
        <a:srgbClr val="10261F"/>
      </a:dk1>
      <a:lt1>
        <a:srgbClr val="F7F4EC"/>
      </a:lt1>
      <a:dk2>
        <a:srgbClr val="4A5A52"/>
      </a:dk2>
      <a:lt2>
        <a:srgbClr val="E0DFD8"/>
      </a:lt2>
      <a:accent1>
        <a:srgbClr val="8A6418"/>
      </a:accent1>
      <a:accent2>
        <a:srgbClr val="D9AE52"/>
      </a:accent2>
      <a:accent3>
        <a:srgbClr val="2563A8"/>
      </a:accent3>
      <a:accent4>
        <a:srgbClr val="B4581A"/>
      </a:accent4>
      <a:accent5>
        <a:srgbClr val="45524C"/>
      </a:accent5>
      <a:accent6>
        <a:srgbClr val="6B7A73"/>
      </a:accent6>
      <a:hlink>
        <a:srgbClr val="0563C1"/>
      </a:hlink>
      <a:folHlink>
        <a:srgbClr val="954F72"/>
      </a:folHlink>
    </a:clrScheme>
    <a:fontScheme name="Blackjack con visión por computador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3483</Words>
  <Application>Microsoft Office PowerPoint</Application>
  <PresentationFormat>Widescreen</PresentationFormat>
  <Paragraphs>267</Paragraphs>
  <Slides>17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Blackjack con visión por computadora</vt:lpstr>
      <vt:lpstr>Blackjack con visión por computadora</vt:lpstr>
      <vt:lpstr>Jugar al Blackjack en una mesa real, con una cámara mirando desde arriba</vt:lpstr>
      <vt:lpstr>Leer cartas con cámara es un problema conocido</vt:lpstr>
      <vt:lpstr>Doce bloques: fuera de línea elegimos el modelo, en línea jugamos</vt:lpstr>
      <vt:lpstr>Entrenamos con datos sintéticos y evaluamos con fotos reales</vt:lpstr>
      <vt:lpstr>Comparamos dos formas de leer el valor de una esquina</vt:lpstr>
      <vt:lpstr>PowerPoint Presentation</vt:lpstr>
      <vt:lpstr>El ajuste fino mejora sobre todo el dominio con el que se hace</vt:lpstr>
      <vt:lpstr>Perturbamos la misma imagen igual para todos los modelos</vt:lpstr>
      <vt:lpstr>La oclusión es lo más dañino; el fondo casi no influye</vt:lpstr>
      <vt:lpstr>El error dominante no es confundir valores: es no encontrar la esquina</vt:lpstr>
      <vt:lpstr>De esquinas detectadas a una partida estable</vt:lpstr>
      <vt:lpstr>Reglas propias sobre MediaPipe, invariantes a la rotación</vt:lpstr>
      <vt:lpstr>Cuatro partidas reales, sin errores</vt:lpstr>
      <vt:lpstr>PowerPoint Presentation</vt:lpstr>
      <vt:lpstr>Lo que aprendimos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Blackjack con visión por computadora</dc:title>
  <dc:subject/>
  <dc:creator/>
  <cp:lastModifiedBy>Rodolfo invitado</cp:lastModifiedBy>
  <cp:revision>2</cp:revision>
  <dcterms:created xsi:type="dcterms:W3CDTF">2026-10-10T14:21:49Z</dcterms:created>
  <dcterms:modified xsi:type="dcterms:W3CDTF">2026-10-12T16:19:19Z</dcterms:modified>
</cp:coreProperties>
</file>